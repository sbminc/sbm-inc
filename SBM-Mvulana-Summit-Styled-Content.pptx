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7315200" cy="1828800"/>
          </a:xfrm>
          <a:prstGeom prst="rect">
            <a:avLst/>
          </a:prstGeom>
          <a:noFill/>
        </p:spPr>
        <p:txBody>
          <a:bodyPr wrap="none">
            <a:spAutoFit/>
          </a:bodyPr>
          <a:lstStyle/>
          <a:p>
            <a:pPr algn="ctr">
              <a:defRPr sz="4800" b="1">
                <a:solidFill>
                  <a:srgbClr val="E9B949"/>
                </a:solidFill>
              </a:defRPr>
            </a:pPr>
            <a:r>
              <a:t>Welcome to the</a:t>
            </a:r>
          </a:p>
          <a:p>
            <a:r>
              <a:t>SBM &amp; MVULANA Summit</a:t>
            </a:r>
          </a:p>
        </p:txBody>
      </p:sp>
      <p:sp>
        <p:nvSpPr>
          <p:cNvPr id="4" name="Rounded Rectangle 3"/>
          <p:cNvSpPr/>
          <p:nvPr/>
        </p:nvSpPr>
        <p:spPr>
          <a:xfrm>
            <a:off x="914400" y="4114800"/>
            <a:ext cx="7315200" cy="18288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914400"/>
          </a:xfrm>
          <a:prstGeom prst="rect">
            <a:avLst/>
          </a:prstGeom>
          <a:noFill/>
        </p:spPr>
        <p:txBody>
          <a:bodyPr wrap="none">
            <a:spAutoFit/>
          </a:bodyPr>
          <a:lstStyle/>
          <a:p>
            <a:pPr algn="ctr">
              <a:defRPr sz="4800" b="1">
                <a:solidFill>
                  <a:srgbClr val="E9B949"/>
                </a:solidFill>
              </a:defRPr>
            </a:pPr>
            <a:r>
              <a:t>SBM</a:t>
            </a:r>
          </a:p>
        </p:txBody>
      </p:sp>
      <p:sp>
        <p:nvSpPr>
          <p:cNvPr id="4" name="Rounded Rectangle 3"/>
          <p:cNvSpPr/>
          <p:nvPr/>
        </p:nvSpPr>
        <p:spPr>
          <a:xfrm>
            <a:off x="2743200" y="2286000"/>
            <a:ext cx="3657600" cy="2743200"/>
          </a:xfrm>
          <a:prstGeom prst="roundRect">
            <a:avLst/>
          </a:prstGeom>
          <a:solidFill>
            <a:srgbClr val="E9B949"/>
          </a:solidFill>
          <a:ln w="381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914400"/>
          </a:xfrm>
          <a:prstGeom prst="rect">
            <a:avLst/>
          </a:prstGeom>
          <a:noFill/>
        </p:spPr>
        <p:txBody>
          <a:bodyPr wrap="none">
            <a:spAutoFit/>
          </a:bodyPr>
          <a:lstStyle/>
          <a:p>
            <a:pPr algn="ctr">
              <a:defRPr sz="4800" b="1">
                <a:solidFill>
                  <a:srgbClr val="E9B949"/>
                </a:solidFill>
              </a:defRPr>
            </a:pPr>
            <a:r>
              <a:t>MVULANA</a:t>
            </a:r>
          </a:p>
        </p:txBody>
      </p:sp>
      <p:sp>
        <p:nvSpPr>
          <p:cNvPr id="4" name="TextBox 3"/>
          <p:cNvSpPr txBox="1"/>
          <p:nvPr/>
        </p:nvSpPr>
        <p:spPr>
          <a:xfrm>
            <a:off x="914400" y="2286000"/>
            <a:ext cx="7315200" cy="914400"/>
          </a:xfrm>
          <a:prstGeom prst="rect">
            <a:avLst/>
          </a:prstGeom>
          <a:noFill/>
        </p:spPr>
        <p:txBody>
          <a:bodyPr wrap="none">
            <a:spAutoFit/>
          </a:bodyPr>
          <a:lstStyle/>
          <a:p>
            <a:pPr algn="ctr">
              <a:defRPr sz="2400" b="1">
                <a:solidFill>
                  <a:srgbClr val="FFFFFF"/>
                </a:solidFill>
              </a:defRPr>
            </a:pPr>
            <a:r>
              <a:t>Young Men's Leadership Initiative</a:t>
            </a:r>
          </a:p>
        </p:txBody>
      </p:sp>
      <p:sp>
        <p:nvSpPr>
          <p:cNvPr id="5" name="Rounded Rectangle 4"/>
          <p:cNvSpPr/>
          <p:nvPr/>
        </p:nvSpPr>
        <p:spPr>
          <a:xfrm>
            <a:off x="914400" y="3657600"/>
            <a:ext cx="7315200" cy="18288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6400800" cy="914400"/>
          </a:xfrm>
          <a:prstGeom prst="rect">
            <a:avLst/>
          </a:prstGeom>
          <a:noFill/>
        </p:spPr>
        <p:txBody>
          <a:bodyPr wrap="none">
            <a:spAutoFit/>
          </a:bodyPr>
          <a:lstStyle/>
          <a:p>
            <a:pPr algn="ctr">
              <a:defRPr sz="1800" b="1">
                <a:solidFill>
                  <a:srgbClr val="FFFFFF"/>
                </a:solidFill>
              </a:defRPr>
            </a:pPr>
            <a:r>
              <a:t>Empowering young men to become leaders in their communities.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Bethune-Cookman University</a:t>
            </a:r>
          </a:p>
        </p:txBody>
      </p:sp>
      <p:sp>
        <p:nvSpPr>
          <p:cNvPr id="4" name="TextBox 3"/>
          <p:cNvSpPr txBox="1"/>
          <p:nvPr/>
        </p:nvSpPr>
        <p:spPr>
          <a:xfrm>
            <a:off x="914400" y="2286000"/>
            <a:ext cx="7315200" cy="914400"/>
          </a:xfrm>
          <a:prstGeom prst="rect">
            <a:avLst/>
          </a:prstGeom>
          <a:noFill/>
        </p:spPr>
        <p:txBody>
          <a:bodyPr wrap="none">
            <a:spAutoFit/>
          </a:bodyPr>
          <a:lstStyle/>
          <a:p>
            <a:pPr algn="ctr">
              <a:defRPr sz="2400" b="1">
                <a:solidFill>
                  <a:srgbClr val="FFFFFF"/>
                </a:solidFill>
              </a:defRPr>
            </a:pPr>
            <a:r>
              <a:t>Center for Civic Engagement</a:t>
            </a:r>
          </a:p>
        </p:txBody>
      </p:sp>
      <p:sp>
        <p:nvSpPr>
          <p:cNvPr id="5" name="Rounded Rectangle 4"/>
          <p:cNvSpPr/>
          <p:nvPr/>
        </p:nvSpPr>
        <p:spPr>
          <a:xfrm>
            <a:off x="914400" y="3657600"/>
            <a:ext cx="7315200" cy="18288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6400800" cy="914400"/>
          </a:xfrm>
          <a:prstGeom prst="rect">
            <a:avLst/>
          </a:prstGeom>
          <a:noFill/>
        </p:spPr>
        <p:txBody>
          <a:bodyPr wrap="none">
            <a:spAutoFit/>
          </a:bodyPr>
          <a:lstStyle/>
          <a:p>
            <a:pPr algn="ctr">
              <a:defRPr sz="1800" b="1">
                <a:solidFill>
                  <a:srgbClr val="FFFFFF"/>
                </a:solidFill>
              </a:defRPr>
            </a:pPr>
            <a:r>
              <a:t>Proud host of the MVULANA Young Men's Summit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914400"/>
          </a:xfrm>
          <a:prstGeom prst="rect">
            <a:avLst/>
          </a:prstGeom>
          <a:noFill/>
        </p:spPr>
        <p:txBody>
          <a:bodyPr wrap="none">
            <a:spAutoFit/>
          </a:bodyPr>
          <a:lstStyle/>
          <a:p>
            <a:pPr algn="ctr">
              <a:defRPr sz="3600" b="1">
                <a:solidFill>
                  <a:srgbClr val="E9B949"/>
                </a:solidFill>
              </a:defRPr>
            </a:pPr>
            <a:r>
              <a:t>Workshop Overview</a:t>
            </a:r>
          </a:p>
        </p:txBody>
      </p:sp>
      <p:sp>
        <p:nvSpPr>
          <p:cNvPr id="4" name="Rounded Rectangle 3"/>
          <p:cNvSpPr/>
          <p:nvPr/>
        </p:nvSpPr>
        <p:spPr>
          <a:xfrm>
            <a:off x="914400" y="2286000"/>
            <a:ext cx="7315200" cy="41148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3200400"/>
          </a:xfrm>
          <a:prstGeom prst="rect">
            <a:avLst/>
          </a:prstGeom>
          <a:noFill/>
        </p:spPr>
        <p:txBody>
          <a:bodyPr wrap="none">
            <a:spAutoFit/>
          </a:bodyPr>
          <a:lstStyle/>
          <a:p>
            <a:pPr>
              <a:defRPr sz="1800" b="1">
                <a:solidFill>
                  <a:srgbClr val="FFFFFF"/>
                </a:solidFill>
              </a:defRPr>
            </a:pPr>
            <a:r>
              <a:t>Interactive sessions focused on personal and professional development:</a:t>
            </a:r>
          </a:p>
          <a:p/>
          <a:p>
            <a:r>
              <a:t>• Leadership Development &amp; Confidence Building</a:t>
            </a:r>
          </a:p>
          <a:p>
            <a:r>
              <a:t>• Effective Communication Skills</a:t>
            </a:r>
          </a:p>
          <a:p>
            <a:r>
              <a:t>• Mental Health Awareness &amp; Wellness</a:t>
            </a:r>
          </a:p>
          <a:p>
            <a:r>
              <a:t>• Career Planning &amp; Goal Setting</a:t>
            </a:r>
          </a:p>
          <a:p>
            <a:r>
              <a:t>• Community Engagement &amp; Service</a:t>
            </a:r>
          </a:p>
          <a:p>
            <a:r>
              <a:t>• Financial Literacy &amp; Responsibility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Event Schedule</a:t>
            </a:r>
          </a:p>
        </p:txBody>
      </p:sp>
      <p:sp>
        <p:nvSpPr>
          <p:cNvPr id="4" name="Rounded Rectangle 3"/>
          <p:cNvSpPr/>
          <p:nvPr/>
        </p:nvSpPr>
        <p:spPr>
          <a:xfrm>
            <a:off x="914400" y="1828800"/>
            <a:ext cx="7315200" cy="45720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286000"/>
            <a:ext cx="6400800" cy="3657600"/>
          </a:xfrm>
          <a:prstGeom prst="rect">
            <a:avLst/>
          </a:prstGeom>
          <a:noFill/>
        </p:spPr>
        <p:txBody>
          <a:bodyPr wrap="none">
            <a:spAutoFit/>
          </a:bodyPr>
          <a:lstStyle/>
          <a:p>
            <a:pPr>
              <a:defRPr sz="1200" b="1">
                <a:solidFill>
                  <a:srgbClr val="FFFFFF"/>
                </a:solidFill>
              </a:defRPr>
            </a:pPr>
            <a:r>
              <a:t>10:00-10:15 AM - Welcome/Prayer (Dr. McConner &amp; Mr. McKinney/Bishop Triplett)</a:t>
            </a:r>
          </a:p>
          <a:p>
            <a:r>
              <a:t>10:15-10:30 AM - Ice Breaker (Mr. Jermaine McKinney)</a:t>
            </a:r>
          </a:p>
          <a:p>
            <a:r>
              <a:t>10:30-11:10 AM - Break Out Groups (1&amp;2) Rotation (Group Facilitators)</a:t>
            </a:r>
          </a:p>
          <a:p>
            <a:r>
              <a:t>11:10-11:20 AM - Participants Break (Group Participants)</a:t>
            </a:r>
          </a:p>
          <a:p>
            <a:r>
              <a:t>11:30 AM-12:00 PM - Mayor Henry Presentation (Mayor of Daytona Beach Florida)</a:t>
            </a:r>
          </a:p>
          <a:p>
            <a:r>
              <a:t>12:00-12:30 PM - Lunch Break (Committee Members/Omega Psi Phi)</a:t>
            </a:r>
          </a:p>
          <a:p>
            <a:r>
              <a:t>12:30-1:10 PM - Break Out Groups (3&amp;4) Rotation (Group Facilitators)</a:t>
            </a:r>
          </a:p>
          <a:p>
            <a:r>
              <a:t>12:30-1:10 PM - Gabriel Hannans - Parents Seminar: Gentle Parenting (Gabriel Hannans)</a:t>
            </a:r>
          </a:p>
          <a:p>
            <a:r>
              <a:t>1:10-1:40 PM - Black History Presentation (Dr. Headley White)</a:t>
            </a:r>
          </a:p>
          <a:p>
            <a:r>
              <a:t>1:40-2:20 PM - Break Out Groups (5&amp;6) Rotation (Group Facilitators)</a:t>
            </a:r>
          </a:p>
          <a:p>
            <a:r>
              <a:t>2:20-2:50 PM - Power of the Tie Presentation (Mr. Mayner &amp; Mr. Jermaine McKinney)</a:t>
            </a:r>
          </a:p>
          <a:p>
            <a:r>
              <a:t>2:50-4:00 PM - Participants Feedback/Presentation of Certificates &amp; Closing Ceremony (Group Participants/Dr. McConner &amp; Mr. McKinney)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4" name="Oval 3"/>
          <p:cNvSpPr/>
          <p:nvPr/>
        </p:nvSpPr>
        <p:spPr>
          <a:xfrm>
            <a:off x="914400" y="1828800"/>
            <a:ext cx="1828800" cy="1828800"/>
          </a:xfrm>
          <a:prstGeom prst="ellipse">
            <a:avLst/>
          </a:prstGeom>
          <a:solidFill>
            <a:srgbClr val="E9B949"/>
          </a:solidFill>
          <a:ln w="381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0" y="1828800"/>
            <a:ext cx="5029200" cy="36576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2286000"/>
            <a:ext cx="4114800" cy="2743200"/>
          </a:xfrm>
          <a:prstGeom prst="rect">
            <a:avLst/>
          </a:prstGeom>
          <a:noFill/>
        </p:spPr>
        <p:txBody>
          <a:bodyPr wrap="none">
            <a:spAutoFit/>
          </a:bodyPr>
          <a:lstStyle/>
          <a:p>
            <a:pPr>
              <a:defRPr sz="1400" b="1">
                <a:solidFill>
                  <a:srgbClr val="FFFFFF"/>
                </a:solidFill>
              </a:defRPr>
            </a:pPr>
            <a:r>
              <a:t>Kevin McCrary</a:t>
            </a:r>
          </a:p>
          <a:p>
            <a:r>
              <a:t>Director of Financial Aid Services, Bethune-Cookman University</a:t>
            </a:r>
          </a:p>
          <a:p/>
          <a:p>
            <a:r>
              <a:t>Kevin McCrary is the Director of Financial Aid Services at Bethune-Cookman University in Daytona Beach, Florida. With nearly seven years of dedicated service to the institution, he has held various roles including Associate Director and Coordinator of Financial Aid Services.</a:t>
            </a:r>
          </a:p>
          <a:p/>
          <a:p>
            <a:r>
              <a:t>Kevin is known for his commitment to student success and financial empowerment in higher education. His leadership and service have earned him recognition from professional organizations such as the National Association of Student Financial Aid Administrators (NASFAA).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Group Facilitator</a:t>
            </a:r>
          </a:p>
        </p:txBody>
      </p:sp>
      <p:sp>
        <p:nvSpPr>
          <p:cNvPr id="4" name="Oval 3"/>
          <p:cNvSpPr/>
          <p:nvPr/>
        </p:nvSpPr>
        <p:spPr>
          <a:xfrm>
            <a:off x="914400" y="1828800"/>
            <a:ext cx="1828800" cy="1828800"/>
          </a:xfrm>
          <a:prstGeom prst="ellipse">
            <a:avLst/>
          </a:prstGeom>
          <a:solidFill>
            <a:srgbClr val="E9B949"/>
          </a:solidFill>
          <a:ln w="381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0" y="1828800"/>
            <a:ext cx="5029200" cy="36576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2286000"/>
            <a:ext cx="4114800" cy="2743200"/>
          </a:xfrm>
          <a:prstGeom prst="rect">
            <a:avLst/>
          </a:prstGeom>
          <a:noFill/>
        </p:spPr>
        <p:txBody>
          <a:bodyPr wrap="none">
            <a:spAutoFit/>
          </a:bodyPr>
          <a:lstStyle/>
          <a:p>
            <a:pPr>
              <a:defRPr sz="1400" b="1">
                <a:solidFill>
                  <a:srgbClr val="FFFFFF"/>
                </a:solidFill>
              </a:defRPr>
            </a:pPr>
            <a:r>
              <a:t>Gabriel Hannans</a:t>
            </a:r>
          </a:p>
          <a:p>
            <a:r>
              <a:t>Parent Coach &amp; Educator, Creator of SHIFT Parenting</a:t>
            </a:r>
          </a:p>
          <a:p/>
          <a:p>
            <a:r>
              <a:t>Gabriel Hannans is a nationally recognized parent coach, educator, and the creator of SHIFT Parenting—a practical, science-backed framework that helps overwhelmed caregivers raise emotionally healthy, self-regulated children without relying on punishment or shame.</a:t>
            </a:r>
          </a:p>
          <a:p/>
          <a:p>
            <a:r>
              <a:t>With a background in Exceptional Student Education and years of experience as a registered behavior technician, Gabriel has supported countless neurodivergent children and families struggling with behavior, communication, and connection.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7315200" cy="914400"/>
          </a:xfrm>
          <a:prstGeom prst="rect">
            <a:avLst/>
          </a:prstGeom>
          <a:noFill/>
        </p:spPr>
        <p:txBody>
          <a:bodyPr wrap="none">
            <a:spAutoFit/>
          </a:bodyPr>
          <a:lstStyle/>
          <a:p>
            <a:pPr algn="ctr">
              <a:defRPr sz="3600" b="1">
                <a:solidFill>
                  <a:srgbClr val="E9B949"/>
                </a:solidFill>
              </a:defRPr>
            </a:pPr>
            <a:r>
              <a:t>Speaker of the Day</a:t>
            </a:r>
          </a:p>
        </p:txBody>
      </p:sp>
      <p:sp>
        <p:nvSpPr>
          <p:cNvPr id="4" name="Rounded Rectangle 3"/>
          <p:cNvSpPr/>
          <p:nvPr/>
        </p:nvSpPr>
        <p:spPr>
          <a:xfrm>
            <a:off x="457200" y="1645920"/>
            <a:ext cx="8229600" cy="731520"/>
          </a:xfrm>
          <a:prstGeom prst="roundRect">
            <a:avLst/>
          </a:prstGeom>
          <a:solidFill>
            <a:srgbClr val="E9B949"/>
          </a:solidFill>
          <a:ln w="381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743200"/>
            <a:ext cx="1828800" cy="1828800"/>
          </a:xfrm>
          <a:prstGeom prst="ellipse">
            <a:avLst/>
          </a:prstGeom>
          <a:solidFill>
            <a:srgbClr val="E9B949"/>
          </a:solidFill>
          <a:ln w="381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2743200"/>
            <a:ext cx="5029200" cy="36576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0" y="3200400"/>
            <a:ext cx="4114800" cy="2743200"/>
          </a:xfrm>
          <a:prstGeom prst="rect">
            <a:avLst/>
          </a:prstGeom>
          <a:noFill/>
        </p:spPr>
        <p:txBody>
          <a:bodyPr wrap="none">
            <a:spAutoFit/>
          </a:bodyPr>
          <a:lstStyle/>
          <a:p>
            <a:pPr>
              <a:defRPr sz="1400" b="1">
                <a:solidFill>
                  <a:srgbClr val="FFFFFF"/>
                </a:solidFill>
              </a:defRPr>
            </a:pPr>
            <a:r>
              <a:t>Derrick L. Henry</a:t>
            </a:r>
          </a:p>
          <a:p>
            <a:r>
              <a:t>Mayor of Daytona Beach</a:t>
            </a:r>
          </a:p>
          <a:p/>
          <a:p>
            <a:r>
              <a:t>Derrick L. Henry, a Daytona Beach native, is serving his fourth term as mayor of the City of Daytona Beach, running unopposed in 2024. He is the city's 21st mayor and our community's second African American mayor.</a:t>
            </a:r>
          </a:p>
          <a:p/>
          <a:p>
            <a:r>
              <a:t>Mayor Henry's platform "Together we can do more" focuses on improving quality of life, business development, youth mentoring, infrastructure upgrades, homelessness solutions, and affordable housing.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1A2A47"/>
              </a:gs>
              <a:gs pos="100000">
                <a:srgbClr val="800020"/>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914400"/>
          </a:xfrm>
          <a:prstGeom prst="rect">
            <a:avLst/>
          </a:prstGeom>
          <a:noFill/>
        </p:spPr>
        <p:txBody>
          <a:bodyPr wrap="none">
            <a:spAutoFit/>
          </a:bodyPr>
          <a:lstStyle/>
          <a:p>
            <a:pPr algn="ctr">
              <a:defRPr sz="4800" b="1">
                <a:solidFill>
                  <a:srgbClr val="E9B949"/>
                </a:solidFill>
              </a:defRPr>
            </a:pPr>
            <a:r>
              <a:t>Join Us</a:t>
            </a:r>
          </a:p>
        </p:txBody>
      </p:sp>
      <p:sp>
        <p:nvSpPr>
          <p:cNvPr id="4" name="TextBox 3"/>
          <p:cNvSpPr txBox="1"/>
          <p:nvPr/>
        </p:nvSpPr>
        <p:spPr>
          <a:xfrm>
            <a:off x="914400" y="2286000"/>
            <a:ext cx="7315200" cy="914400"/>
          </a:xfrm>
          <a:prstGeom prst="rect">
            <a:avLst/>
          </a:prstGeom>
          <a:noFill/>
        </p:spPr>
        <p:txBody>
          <a:bodyPr wrap="none">
            <a:spAutoFit/>
          </a:bodyPr>
          <a:lstStyle/>
          <a:p>
            <a:pPr algn="ctr">
              <a:defRPr sz="2400" b="1">
                <a:solidFill>
                  <a:srgbClr val="FFFFFF"/>
                </a:solidFill>
              </a:defRPr>
            </a:pPr>
            <a:r>
              <a:t>Registration Now Open</a:t>
            </a:r>
          </a:p>
        </p:txBody>
      </p:sp>
      <p:sp>
        <p:nvSpPr>
          <p:cNvPr id="5" name="Rounded Rectangle 4"/>
          <p:cNvSpPr/>
          <p:nvPr/>
        </p:nvSpPr>
        <p:spPr>
          <a:xfrm>
            <a:off x="914400" y="3657600"/>
            <a:ext cx="7315200" cy="2743200"/>
          </a:xfrm>
          <a:prstGeom prst="roundRect">
            <a:avLst/>
          </a:prstGeom>
          <a:solidFill>
            <a:srgbClr val="FFFFFF"/>
          </a:solidFill>
          <a:ln w="2540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4114800"/>
            <a:ext cx="6400800" cy="1828800"/>
          </a:xfrm>
          <a:prstGeom prst="rect">
            <a:avLst/>
          </a:prstGeom>
          <a:noFill/>
        </p:spPr>
        <p:txBody>
          <a:bodyPr wrap="none">
            <a:spAutoFit/>
          </a:bodyPr>
          <a:lstStyle/>
          <a:p>
            <a:pPr algn="ctr">
              <a:defRPr sz="1800" b="1">
                <a:solidFill>
                  <a:srgbClr val="FFFFFF"/>
                </a:solidFill>
              </a:defRPr>
            </a:pPr>
            <a:r>
              <a:t>Don't miss this opportunity to be part of a transformative experience!</a:t>
            </a:r>
          </a:p>
          <a:p/>
          <a:p>
            <a:r>
              <a:t>Registration Deadline: July 15, 2025</a:t>
            </a:r>
          </a:p>
          <a:p>
            <a:r>
              <a:t>Limited Spaces Available</a:t>
            </a:r>
          </a:p>
          <a:p>
            <a:r>
              <a:t>Free Admission</a:t>
            </a:r>
          </a:p>
          <a:p/>
          <a:p>
            <a:r>
              <a:t>Contact: [Your Contact Information]</a:t>
            </a:r>
          </a:p>
          <a:p>
            <a:r>
              <a:t>Website: [Your Website]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