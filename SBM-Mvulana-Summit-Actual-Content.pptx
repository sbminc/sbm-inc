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1828800"/>
            <a:ext cx="7315200" cy="1828800"/>
          </a:xfrm>
          <a:prstGeom prst="rect">
            <a:avLst/>
          </a:prstGeom>
          <a:noFill/>
        </p:spPr>
        <p:txBody>
          <a:bodyPr wrap="none">
            <a:spAutoFit/>
          </a:bodyPr>
          <a:lstStyle/>
          <a:p>
            <a:pPr algn="ctr">
              <a:defRPr sz="4800" b="1">
                <a:solidFill>
                  <a:srgbClr val="E9B949"/>
                </a:solidFill>
              </a:defRPr>
            </a:pPr>
            <a:r>
              <a:t>Welcome to the</a:t>
            </a:r>
          </a:p>
          <a:p>
            <a:r>
              <a:t>SBM &amp; MVULANA Summit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914400"/>
            <a:ext cx="7315200" cy="914400"/>
          </a:xfrm>
          <a:prstGeom prst="rect">
            <a:avLst/>
          </a:prstGeom>
          <a:noFill/>
        </p:spPr>
        <p:txBody>
          <a:bodyPr wrap="none">
            <a:spAutoFit/>
          </a:bodyPr>
          <a:lstStyle/>
          <a:p>
            <a:pPr algn="ctr">
              <a:defRPr sz="3600" b="1">
                <a:solidFill>
                  <a:srgbClr val="E9B949"/>
                </a:solidFill>
              </a:defRPr>
            </a:pPr>
            <a:r>
              <a:t>SBM</a:t>
            </a:r>
          </a:p>
        </p:txBody>
      </p:sp>
      <p:sp>
        <p:nvSpPr>
          <p:cNvPr id="3" name="TextBox 2"/>
          <p:cNvSpPr txBox="1"/>
          <p:nvPr/>
        </p:nvSpPr>
        <p:spPr>
          <a:xfrm>
            <a:off x="914400" y="2286000"/>
            <a:ext cx="7315200" cy="3657600"/>
          </a:xfrm>
          <a:prstGeom prst="rect">
            <a:avLst/>
          </a:prstGeom>
          <a:noFill/>
        </p:spPr>
        <p:txBody>
          <a:bodyPr wrap="none">
            <a:spAutoFit/>
          </a:bodyPr>
          <a:lstStyle/>
          <a:p>
            <a:pPr>
              <a:defRPr sz="2400" b="1">
                <a:solidFill>
                  <a:srgbClr val="FFFFFF"/>
                </a:solidFill>
              </a:defRPr>
            </a:pPr>
            <a:r>
              <a:t>SBM Logo and Branding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914400"/>
            <a:ext cx="7315200" cy="914400"/>
          </a:xfrm>
          <a:prstGeom prst="rect">
            <a:avLst/>
          </a:prstGeom>
          <a:noFill/>
        </p:spPr>
        <p:txBody>
          <a:bodyPr wrap="none">
            <a:spAutoFit/>
          </a:bodyPr>
          <a:lstStyle/>
          <a:p>
            <a:pPr algn="ctr">
              <a:defRPr sz="3600" b="1">
                <a:solidFill>
                  <a:srgbClr val="E9B949"/>
                </a:solidFill>
              </a:defRPr>
            </a:pPr>
            <a:r>
              <a:t>MVULANA</a:t>
            </a:r>
          </a:p>
        </p:txBody>
      </p:sp>
      <p:sp>
        <p:nvSpPr>
          <p:cNvPr id="3" name="TextBox 2"/>
          <p:cNvSpPr txBox="1"/>
          <p:nvPr/>
        </p:nvSpPr>
        <p:spPr>
          <a:xfrm>
            <a:off x="914400" y="2286000"/>
            <a:ext cx="7315200" cy="3657600"/>
          </a:xfrm>
          <a:prstGeom prst="rect">
            <a:avLst/>
          </a:prstGeom>
          <a:noFill/>
        </p:spPr>
        <p:txBody>
          <a:bodyPr wrap="none">
            <a:spAutoFit/>
          </a:bodyPr>
          <a:lstStyle/>
          <a:p>
            <a:pPr>
              <a:defRPr sz="2400" b="1">
                <a:solidFill>
                  <a:srgbClr val="FFFFFF"/>
                </a:solidFill>
              </a:defRPr>
            </a:pPr>
            <a:r>
              <a:t>Young Men's Leadership Initiative</a:t>
            </a:r>
          </a:p>
          <a:p/>
          <a:p>
            <a:r>
              <a:t>Empowering young men to become leaders in their communities.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914400"/>
            <a:ext cx="7315200" cy="914400"/>
          </a:xfrm>
          <a:prstGeom prst="rect">
            <a:avLst/>
          </a:prstGeom>
          <a:noFill/>
        </p:spPr>
        <p:txBody>
          <a:bodyPr wrap="none">
            <a:spAutoFit/>
          </a:bodyPr>
          <a:lstStyle/>
          <a:p>
            <a:pPr algn="ctr">
              <a:defRPr sz="3600" b="1">
                <a:solidFill>
                  <a:srgbClr val="E9B949"/>
                </a:solidFill>
              </a:defRPr>
            </a:pPr>
            <a:r>
              <a:t>Bethune-Cookman University</a:t>
            </a:r>
          </a:p>
        </p:txBody>
      </p:sp>
      <p:sp>
        <p:nvSpPr>
          <p:cNvPr id="3" name="TextBox 2"/>
          <p:cNvSpPr txBox="1"/>
          <p:nvPr/>
        </p:nvSpPr>
        <p:spPr>
          <a:xfrm>
            <a:off x="914400" y="2286000"/>
            <a:ext cx="7315200" cy="3657600"/>
          </a:xfrm>
          <a:prstGeom prst="rect">
            <a:avLst/>
          </a:prstGeom>
          <a:noFill/>
        </p:spPr>
        <p:txBody>
          <a:bodyPr wrap="none">
            <a:spAutoFit/>
          </a:bodyPr>
          <a:lstStyle/>
          <a:p>
            <a:pPr>
              <a:defRPr sz="2400" b="1">
                <a:solidFill>
                  <a:srgbClr val="FFFFFF"/>
                </a:solidFill>
              </a:defRPr>
            </a:pPr>
            <a:r>
              <a:t>Center for Civic Engagement</a:t>
            </a:r>
          </a:p>
          <a:p/>
          <a:p>
            <a:r>
              <a:t>Proud host of the MVULANA Young Men's Summit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914400"/>
            <a:ext cx="7315200" cy="914400"/>
          </a:xfrm>
          <a:prstGeom prst="rect">
            <a:avLst/>
          </a:prstGeom>
          <a:noFill/>
        </p:spPr>
        <p:txBody>
          <a:bodyPr wrap="none">
            <a:spAutoFit/>
          </a:bodyPr>
          <a:lstStyle/>
          <a:p>
            <a:pPr algn="ctr">
              <a:defRPr sz="3600" b="1">
                <a:solidFill>
                  <a:srgbClr val="E9B949"/>
                </a:solidFill>
              </a:defRPr>
            </a:pPr>
            <a:r>
              <a:t>Workshop Overview</a:t>
            </a:r>
          </a:p>
        </p:txBody>
      </p:sp>
      <p:sp>
        <p:nvSpPr>
          <p:cNvPr id="3" name="TextBox 2"/>
          <p:cNvSpPr txBox="1"/>
          <p:nvPr/>
        </p:nvSpPr>
        <p:spPr>
          <a:xfrm>
            <a:off x="914400" y="2286000"/>
            <a:ext cx="7315200" cy="3657600"/>
          </a:xfrm>
          <a:prstGeom prst="rect">
            <a:avLst/>
          </a:prstGeom>
          <a:noFill/>
        </p:spPr>
        <p:txBody>
          <a:bodyPr wrap="none">
            <a:spAutoFit/>
          </a:bodyPr>
          <a:lstStyle/>
          <a:p>
            <a:pPr>
              <a:defRPr sz="2000" b="1">
                <a:solidFill>
                  <a:srgbClr val="FFFFFF"/>
                </a:solidFill>
              </a:defRPr>
            </a:pPr>
            <a:r>
              <a:t>Interactive sessions focused on personal and professional development:</a:t>
            </a:r>
          </a:p>
          <a:p/>
          <a:p>
            <a:r>
              <a:t>• Leadership Development &amp; Confidence Building</a:t>
            </a:r>
          </a:p>
          <a:p>
            <a:r>
              <a:t>• Effective Communication Skills</a:t>
            </a:r>
          </a:p>
          <a:p>
            <a:r>
              <a:t>• Mental Health Awareness &amp; Wellness</a:t>
            </a:r>
          </a:p>
          <a:p>
            <a:r>
              <a:t>• Career Planning &amp; Goal Setting</a:t>
            </a:r>
          </a:p>
          <a:p>
            <a:r>
              <a:t>• Community Engagement &amp; Service</a:t>
            </a:r>
          </a:p>
          <a:p>
            <a:r>
              <a:t>• Financial Literacy &amp; Responsibility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Event Schedule</a:t>
            </a:r>
          </a:p>
        </p:txBody>
      </p:sp>
      <p:sp>
        <p:nvSpPr>
          <p:cNvPr id="3" name="TextBox 2"/>
          <p:cNvSpPr txBox="1"/>
          <p:nvPr/>
        </p:nvSpPr>
        <p:spPr>
          <a:xfrm>
            <a:off x="914400" y="1828800"/>
            <a:ext cx="7315200" cy="4572000"/>
          </a:xfrm>
          <a:prstGeom prst="rect">
            <a:avLst/>
          </a:prstGeom>
          <a:noFill/>
        </p:spPr>
        <p:txBody>
          <a:bodyPr wrap="none">
            <a:spAutoFit/>
          </a:bodyPr>
          <a:lstStyle/>
          <a:p>
            <a:pPr>
              <a:defRPr sz="1400" b="1">
                <a:solidFill>
                  <a:srgbClr val="FFFFFF"/>
                </a:solidFill>
              </a:defRPr>
            </a:pPr>
            <a:r>
              <a:t>10:00-10:15 AM - Welcome/Prayer (Dr. McConner &amp; Mr. McKinney/Bishop Triplett)</a:t>
            </a:r>
          </a:p>
          <a:p>
            <a:r>
              <a:t>10:15-10:30 AM - Ice Breaker (Mr. Jermaine McKinney)</a:t>
            </a:r>
          </a:p>
          <a:p>
            <a:r>
              <a:t>10:30-11:10 AM - Break Out Groups (1&amp;2) Rotation (Group Facilitators)</a:t>
            </a:r>
          </a:p>
          <a:p>
            <a:r>
              <a:t>11:10-11:20 AM - Participants Break (Group Participants)</a:t>
            </a:r>
          </a:p>
          <a:p>
            <a:r>
              <a:t>11:30 AM-12:00 PM - Mayor Henry Presentation (Mayor of Daytona Beach Florida)</a:t>
            </a:r>
          </a:p>
          <a:p>
            <a:r>
              <a:t>12:00-12:30 PM - Lunch Break (Committee Members/Omega Psi Phi)</a:t>
            </a:r>
          </a:p>
          <a:p>
            <a:r>
              <a:t>12:30-1:10 PM - Break Out Groups (3&amp;4) Rotation (Group Facilitators)</a:t>
            </a:r>
          </a:p>
          <a:p>
            <a:r>
              <a:t>12:30-1:10 PM - Gabriel Hannans - Parents Seminar: Gentle Parenting (Gabriel Hannans)</a:t>
            </a:r>
          </a:p>
          <a:p>
            <a:r>
              <a:t>1:10-1:40 PM - Black History Presentation (Dr. Headley White)</a:t>
            </a:r>
          </a:p>
          <a:p>
            <a:r>
              <a:t>1:40-2:20 PM - Break Out Groups (5&amp;6) Rotation (Group Facilitators)</a:t>
            </a:r>
          </a:p>
          <a:p>
            <a:r>
              <a:t>2:20-2:50 PM - Power of the Tie Presentation (Mr. Mayner &amp; Mr. Jermaine McKinney)</a:t>
            </a:r>
          </a:p>
          <a:p>
            <a:r>
              <a:t>2:50-4:00 PM - Participants Feedback/Presentation of Certificates &amp; Closing Ceremony (Group Participants/Dr. McConner &amp; Mr. McKinney)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Group Facilitator</a:t>
            </a:r>
          </a:p>
        </p:txBody>
      </p:sp>
      <p:sp>
        <p:nvSpPr>
          <p:cNvPr id="3" name="TextBox 2"/>
          <p:cNvSpPr txBox="1"/>
          <p:nvPr/>
        </p:nvSpPr>
        <p:spPr>
          <a:xfrm>
            <a:off x="914400" y="1828800"/>
            <a:ext cx="7315200" cy="4572000"/>
          </a:xfrm>
          <a:prstGeom prst="rect">
            <a:avLst/>
          </a:prstGeom>
          <a:noFill/>
        </p:spPr>
        <p:txBody>
          <a:bodyPr wrap="none">
            <a:spAutoFit/>
          </a:bodyPr>
          <a:lstStyle/>
          <a:p>
            <a:pPr>
              <a:defRPr sz="1600" b="1">
                <a:solidFill>
                  <a:srgbClr val="FFFFFF"/>
                </a:solidFill>
              </a:defRPr>
            </a:pPr>
            <a:r>
              <a:t>Kevin McCrary</a:t>
            </a:r>
          </a:p>
          <a:p>
            <a:r>
              <a:t>Director of Financial Aid Services, Bethune-Cookman University</a:t>
            </a:r>
          </a:p>
          <a:p/>
          <a:p>
            <a:r>
              <a:t>Kevin McCrary is the Director of Financial Aid Services at Bethune-Cookman University in Daytona Beach, Florida. With nearly seven years of dedicated service to the institution, he has held various roles including Associate Director and Coordinator of Financial Aid Services.</a:t>
            </a:r>
          </a:p>
          <a:p/>
          <a:p>
            <a:r>
              <a:t>Kevin is known for his commitment to student success and financial empowerment in higher education. His leadership and service have earned him recognition from professional organizations such as the National Association of Student Financial Aid Administrators (NASFAA).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Group Facilitator</a:t>
            </a:r>
          </a:p>
        </p:txBody>
      </p:sp>
      <p:sp>
        <p:nvSpPr>
          <p:cNvPr id="3" name="TextBox 2"/>
          <p:cNvSpPr txBox="1"/>
          <p:nvPr/>
        </p:nvSpPr>
        <p:spPr>
          <a:xfrm>
            <a:off x="914400" y="1828800"/>
            <a:ext cx="7315200" cy="4572000"/>
          </a:xfrm>
          <a:prstGeom prst="rect">
            <a:avLst/>
          </a:prstGeom>
          <a:noFill/>
        </p:spPr>
        <p:txBody>
          <a:bodyPr wrap="none">
            <a:spAutoFit/>
          </a:bodyPr>
          <a:lstStyle/>
          <a:p>
            <a:pPr>
              <a:defRPr sz="1600" b="1">
                <a:solidFill>
                  <a:srgbClr val="FFFFFF"/>
                </a:solidFill>
              </a:defRPr>
            </a:pPr>
            <a:r>
              <a:t>Gabriel Hannans</a:t>
            </a:r>
          </a:p>
          <a:p>
            <a:r>
              <a:t>Parent Coach &amp; Educator, Creator of SHIFT Parenting</a:t>
            </a:r>
          </a:p>
          <a:p/>
          <a:p>
            <a:r>
              <a:t>Gabriel Hannans is a nationally recognized parent coach, educator, and the creator of SHIFT Parenting—a practical, science-backed framework that helps overwhelmed caregivers raise emotionally healthy, self-regulated children without relying on punishment or shame.</a:t>
            </a:r>
          </a:p>
          <a:p/>
          <a:p>
            <a:r>
              <a:t>With a background in Exceptional Student Education and years of experience as a registered behavior technician, Gabriel has supported countless neurodivergent children and families struggling with behavior, communication, and connection.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Group Facilitator</a:t>
            </a:r>
          </a:p>
        </p:txBody>
      </p:sp>
      <p:sp>
        <p:nvSpPr>
          <p:cNvPr id="3" name="TextBox 2"/>
          <p:cNvSpPr txBox="1"/>
          <p:nvPr/>
        </p:nvSpPr>
        <p:spPr>
          <a:xfrm>
            <a:off x="914400" y="1828800"/>
            <a:ext cx="7315200" cy="4572000"/>
          </a:xfrm>
          <a:prstGeom prst="rect">
            <a:avLst/>
          </a:prstGeom>
          <a:noFill/>
        </p:spPr>
        <p:txBody>
          <a:bodyPr wrap="none">
            <a:spAutoFit/>
          </a:bodyPr>
          <a:lstStyle/>
          <a:p>
            <a:pPr>
              <a:defRPr sz="1600" b="1">
                <a:solidFill>
                  <a:srgbClr val="FFFFFF"/>
                </a:solidFill>
              </a:defRPr>
            </a:pPr>
            <a:r>
              <a:t>Omar Brown</a:t>
            </a:r>
          </a:p>
          <a:p>
            <a:r>
              <a:t>Co-owner, Kale Cafe</a:t>
            </a:r>
          </a:p>
          <a:p/>
          <a:p>
            <a:r>
              <a:t>Omar Brown is the co-owner of Kale Cafe, a beloved vegan restaurant and juice bar located in Daytona Beach, Florida. Alongside his wife Camille, Omar founded Kale Cafe in 2013 with a mission to make fresh, plant-based, Caribbean-inspired meals accessible to their community.</a:t>
            </a:r>
          </a:p>
          <a:p/>
          <a:p>
            <a:r>
              <a:t>Beyond the kitchen, Omar is a dedicated advocate for clean, healthy living. He and his wife are active in the community, frequently volunteering and donating time and resources to local causes.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Group Facilitator</a:t>
            </a:r>
          </a:p>
        </p:txBody>
      </p:sp>
      <p:sp>
        <p:nvSpPr>
          <p:cNvPr id="3" name="TextBox 2"/>
          <p:cNvSpPr txBox="1"/>
          <p:nvPr/>
        </p:nvSpPr>
        <p:spPr>
          <a:xfrm>
            <a:off x="914400" y="1828800"/>
            <a:ext cx="7315200" cy="4572000"/>
          </a:xfrm>
          <a:prstGeom prst="rect">
            <a:avLst/>
          </a:prstGeom>
          <a:noFill/>
        </p:spPr>
        <p:txBody>
          <a:bodyPr wrap="none">
            <a:spAutoFit/>
          </a:bodyPr>
          <a:lstStyle/>
          <a:p>
            <a:pPr>
              <a:defRPr sz="1600" b="1">
                <a:solidFill>
                  <a:srgbClr val="FFFFFF"/>
                </a:solidFill>
              </a:defRPr>
            </a:pPr>
            <a:r>
              <a:t>Alphonso B. Bush Jr.</a:t>
            </a:r>
          </a:p>
          <a:p>
            <a:r>
              <a:t>President &amp; CEO</a:t>
            </a:r>
          </a:p>
          <a:p/>
          <a:p>
            <a:r>
              <a:t>Dedicated, experienced, and results-driven professional, Alphonso B. Bush Jr. is the President and CEO of a mission-driven organization focused on community advancement and sustainable impact.</a:t>
            </a:r>
          </a:p>
          <a:p/>
          <a:p>
            <a:r>
              <a:t>With a strong foundation in nonprofit management, business administration, and community development, Mr. Bush holds a Bachelor of Fine Arts in Design and Merchandising with a concentration in Entrepreneurship from I.A.D.T. – Sanford Brown College.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Group Facilitator</a:t>
            </a:r>
          </a:p>
        </p:txBody>
      </p:sp>
      <p:sp>
        <p:nvSpPr>
          <p:cNvPr id="3" name="TextBox 2"/>
          <p:cNvSpPr txBox="1"/>
          <p:nvPr/>
        </p:nvSpPr>
        <p:spPr>
          <a:xfrm>
            <a:off x="914400" y="1828800"/>
            <a:ext cx="7315200" cy="4572000"/>
          </a:xfrm>
          <a:prstGeom prst="rect">
            <a:avLst/>
          </a:prstGeom>
          <a:noFill/>
        </p:spPr>
        <p:txBody>
          <a:bodyPr wrap="none">
            <a:spAutoFit/>
          </a:bodyPr>
          <a:lstStyle/>
          <a:p>
            <a:pPr>
              <a:defRPr sz="1600" b="1">
                <a:solidFill>
                  <a:srgbClr val="FFFFFF"/>
                </a:solidFill>
              </a:defRPr>
            </a:pPr>
            <a:r>
              <a:t>Leary J. Wade</a:t>
            </a:r>
          </a:p>
          <a:p>
            <a:r>
              <a:t>Senior Solution Engineer</a:t>
            </a:r>
          </a:p>
          <a:p/>
          <a:p>
            <a:r>
              <a:t>Leary has over 17 years of sales engineering experience, including experience with RapidScale, Dell Technologies, and Verizon Cloud. His sales engineer experience includes strategically solving technical problems and providing customer focused solutions.</a:t>
            </a:r>
          </a:p>
          <a:p/>
          <a:p>
            <a:r>
              <a:t>His technical background consists of Cloud &amp; Network Security, Compute and Network Systems Administration. He's a graduate of Howard University and is currently pursuing his Masters in Business Administration from the University of North Carolina Wilmington.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Group Facilitator</a:t>
            </a:r>
          </a:p>
        </p:txBody>
      </p:sp>
      <p:sp>
        <p:nvSpPr>
          <p:cNvPr id="3" name="TextBox 2"/>
          <p:cNvSpPr txBox="1"/>
          <p:nvPr/>
        </p:nvSpPr>
        <p:spPr>
          <a:xfrm>
            <a:off x="914400" y="1828800"/>
            <a:ext cx="7315200" cy="4572000"/>
          </a:xfrm>
          <a:prstGeom prst="rect">
            <a:avLst/>
          </a:prstGeom>
          <a:noFill/>
        </p:spPr>
        <p:txBody>
          <a:bodyPr wrap="none">
            <a:spAutoFit/>
          </a:bodyPr>
          <a:lstStyle/>
          <a:p>
            <a:pPr>
              <a:defRPr sz="1400" b="1">
                <a:solidFill>
                  <a:srgbClr val="FFFFFF"/>
                </a:solidFill>
              </a:defRPr>
            </a:pPr>
            <a:r>
              <a:t>Genesis Robinson</a:t>
            </a:r>
          </a:p>
          <a:p>
            <a:r>
              <a:t>Executive Director - equal-ground.com</a:t>
            </a:r>
          </a:p>
          <a:p/>
          <a:p>
            <a:r>
              <a:t>Genesis Robinson is a political strategist and community organizer with over a decade of experience delivering results at the local, state, and federal levels of government. He serves as the Executive Director of Equal Ground Education Fund and Action Fund, Florida's preeminent Black-led voting rights organization.</a:t>
            </a:r>
          </a:p>
          <a:p/>
          <a:p>
            <a:r>
              <a:t>He is an alumnus of Florida Agricultural and Mechanical University (FAMU) where he studied Political Science and Public Administration. He began his professional career in the United States House of Representatives, where he served as a Legislative Assistant during the 113th and 114th Congress. Since then, he has held various positions throughout the state of Florida.</a:t>
            </a:r>
          </a:p>
          <a:p/>
          <a:p>
            <a:r>
              <a:t>In 2018, while working in the Florida Legislature, Genesis assisted in the successful passage of legislation to select Dr. Mary McLeod Bethune as one of two people to represent the state of Florida in the National Statuary Hall Collection in the United States Capitol- a distinct honor which made her the first African American to represent any state in the country.</a:t>
            </a:r>
          </a:p>
          <a:p/>
          <a:p>
            <a:r>
              <a:t>In 2021, Genesis joined Equal Ground where he managed and expanded their operation in Volusia County. His experience and talents were quickly noticed and he excelled in the position. Less than one year later, the organization created the position of Political Director and tapped Genesis to lead the division. In this role, he was responsible for developing and maintaining relationships with elected officials, tracking legislation, and creating ways to educate Black Floridians about the legislative process. In addition to holding various positions in government and with Equal Ground, Genesis has managed and consulted on several local and state campaigns. He is married to a Volusia County educator and they reside in Daytona Beach with their two children.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Speaker of the Day</a:t>
            </a:r>
          </a:p>
        </p:txBody>
      </p:sp>
      <p:sp>
        <p:nvSpPr>
          <p:cNvPr id="3" name="TextBox 2"/>
          <p:cNvSpPr txBox="1"/>
          <p:nvPr/>
        </p:nvSpPr>
        <p:spPr>
          <a:xfrm>
            <a:off x="914400" y="1828800"/>
            <a:ext cx="7315200" cy="4572000"/>
          </a:xfrm>
          <a:prstGeom prst="rect">
            <a:avLst/>
          </a:prstGeom>
          <a:noFill/>
        </p:spPr>
        <p:txBody>
          <a:bodyPr wrap="none">
            <a:spAutoFit/>
          </a:bodyPr>
          <a:lstStyle/>
          <a:p>
            <a:pPr>
              <a:defRPr sz="1400" b="1">
                <a:solidFill>
                  <a:srgbClr val="FFFFFF"/>
                </a:solidFill>
              </a:defRPr>
            </a:pPr>
            <a:r>
              <a:t>Derrick L. Henry</a:t>
            </a:r>
          </a:p>
          <a:p>
            <a:r>
              <a:t>Mayor of Daytona Beach</a:t>
            </a:r>
          </a:p>
          <a:p/>
          <a:p>
            <a:r>
              <a:t>Derrick L. Henry, a Daytona Beach native, is serving his fourth term as mayor of the City of Daytona Beach, running unopposed in 2024. He is the city's 21st mayor and our community's second African American mayor.</a:t>
            </a:r>
          </a:p>
          <a:p/>
          <a:p>
            <a:r>
              <a:t>Mayor Henry's platform "Together we can do more" focuses on improving quality of life, business development, youth mentoring, infrastructure upgrades, homelessness solutions, and affordable housing. Under his leadership since 2012, the city has seen unemployment decrease, property values rise, increased minority hiring, reduced crime, population growth, and thriving commercial development.</a:t>
            </a:r>
          </a:p>
          <a:p/>
          <a:p>
            <a:r>
              <a:t>Prior to becoming mayor, he was a teacher, assistant principal, and basketball coach at Mainland High School, earning Volusia County's Social Studies "Teacher of the Year" in 1998-1999. He served as Zone 5 commissioner from 2009-2011. He remains a certified educator and serves as executive director of Step-by-Step Expressions, Inc., providing training for teachers and students nationwide.</a:t>
            </a:r>
          </a:p>
          <a:p/>
          <a:p>
            <a:r>
              <a:t>A passionate motivational speaker, Mayor Henry currently serves as an assistant principal for Volusia County schools, proclaiming "working with and on behalf of children as his greatest professional joy." He is married to Dr. Stephanie Henry, an international education consultant, and has three children: Michael, Derrick Jr., and Paisley.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2A47"/>
        </a:solidFill>
        <a:effectLst/>
      </p:bgPr>
    </p:bg>
    <p:spTree>
      <p:nvGrpSpPr>
        <p:cNvPr id="1" name=""/>
        <p:cNvGrpSpPr/>
        <p:nvPr/>
      </p:nvGrpSpPr>
      <p:grpSpPr/>
      <p:sp>
        <p:nvSpPr>
          <p:cNvPr id="2" name="TextBox 1"/>
          <p:cNvSpPr txBox="1"/>
          <p:nvPr/>
        </p:nvSpPr>
        <p:spPr>
          <a:xfrm>
            <a:off x="914400" y="914400"/>
            <a:ext cx="7315200" cy="914400"/>
          </a:xfrm>
          <a:prstGeom prst="rect">
            <a:avLst/>
          </a:prstGeom>
          <a:noFill/>
        </p:spPr>
        <p:txBody>
          <a:bodyPr wrap="none">
            <a:spAutoFit/>
          </a:bodyPr>
          <a:lstStyle/>
          <a:p>
            <a:pPr algn="ctr">
              <a:defRPr sz="3600" b="1">
                <a:solidFill>
                  <a:srgbClr val="E9B949"/>
                </a:solidFill>
              </a:defRPr>
            </a:pPr>
            <a:r>
              <a:t>Join Us</a:t>
            </a:r>
          </a:p>
        </p:txBody>
      </p:sp>
      <p:sp>
        <p:nvSpPr>
          <p:cNvPr id="3" name="TextBox 2"/>
          <p:cNvSpPr txBox="1"/>
          <p:nvPr/>
        </p:nvSpPr>
        <p:spPr>
          <a:xfrm>
            <a:off x="914400" y="2286000"/>
            <a:ext cx="7315200" cy="3657600"/>
          </a:xfrm>
          <a:prstGeom prst="rect">
            <a:avLst/>
          </a:prstGeom>
          <a:noFill/>
        </p:spPr>
        <p:txBody>
          <a:bodyPr wrap="none">
            <a:spAutoFit/>
          </a:bodyPr>
          <a:lstStyle/>
          <a:p>
            <a:pPr>
              <a:defRPr sz="2000" b="1">
                <a:solidFill>
                  <a:srgbClr val="FFFFFF"/>
                </a:solidFill>
              </a:defRPr>
            </a:pPr>
            <a:r>
              <a:t>Registration Now Open</a:t>
            </a:r>
          </a:p>
          <a:p/>
          <a:p>
            <a:r>
              <a:t>Don't miss this opportunity to be part of a transformative experience!</a:t>
            </a:r>
          </a:p>
          <a:p/>
          <a:p>
            <a:r>
              <a:t>Registration Deadline: July 15, 2025</a:t>
            </a:r>
          </a:p>
          <a:p>
            <a:r>
              <a:t>Limited Spaces Available</a:t>
            </a:r>
          </a:p>
          <a:p>
            <a:r>
              <a:t>Free Admission</a:t>
            </a:r>
          </a:p>
          <a:p/>
          <a:p>
            <a:r>
              <a:t>Contact: [Your Contact Information]</a:t>
            </a:r>
          </a:p>
          <a:p>
            <a:r>
              <a:t>Website: [Your Website]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